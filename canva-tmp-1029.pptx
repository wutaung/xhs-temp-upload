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925800" cy="89630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B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主標"/>
          <p:cNvSpPr txBox="1"/>
          <p:nvPr/>
        </p:nvSpPr>
        <p:spPr>
          <a:xfrm>
            <a:off x="3619500" y="114300"/>
            <a:ext cx="86868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350"/>
              </a:lnSpc>
            </a:pPr>
            <a:r>
              <a:rPr sz="3300" b="1">
                <a:solidFill>
                  <a:srgbClr val="1F1A17"/>
                </a:solidFill>
                <a:latin typeface="Noto Serif TC"/>
                <a:ea typeface="Noto Serif TC"/>
                <a:cs typeface="Noto Serif TC"/>
              </a:rPr>
              <a:t>讓你的專業，有一套完整的成交流程承接。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495550" y="381000"/>
            <a:ext cx="1362075" cy="0"/>
          </a:xfrm>
          <a:prstGeom prst="line">
            <a:avLst/>
          </a:prstGeom>
          <a:ln w="19050">
            <a:solidFill>
              <a:srgbClr val="1F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077700" y="381000"/>
            <a:ext cx="1371600" cy="0"/>
          </a:xfrm>
          <a:prstGeom prst="line">
            <a:avLst/>
          </a:prstGeom>
          <a:ln w="19050">
            <a:solidFill>
              <a:srgbClr val="1F1A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副標"/>
          <p:cNvSpPr txBox="1"/>
          <p:nvPr/>
        </p:nvSpPr>
        <p:spPr>
          <a:xfrm>
            <a:off x="2857500" y="666750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400"/>
              </a:lnSpc>
            </a:pPr>
            <a:r>
              <a:rPr sz="1650" b="1">
                <a:solidFill>
                  <a:srgbClr val="93582F"/>
                </a:solidFill>
                <a:latin typeface="Noto Serif TC"/>
                <a:ea typeface="Noto Serif TC"/>
                <a:cs typeface="Noto Serif TC"/>
              </a:rPr>
              <a:t>從團隊建置・陪你優化，到直接承接諮詢與成交，</a:t>
            </a:r>
          </a:p>
          <a:p>
            <a:pPr algn="ctr">
              <a:lnSpc>
                <a:spcPts val="2400"/>
              </a:lnSpc>
            </a:pPr>
            <a:r>
              <a:rPr sz="1650" b="1">
                <a:solidFill>
                  <a:srgbClr val="93582F"/>
                </a:solidFill>
                <a:latin typeface="Noto Serif TC"/>
                <a:ea typeface="Noto Serif TC"/>
                <a:cs typeface="Noto Serif TC"/>
              </a:rPr>
              <a:t>依照你的時間、營運能力與分工需求，選擇適合的合作方式。</a:t>
            </a:r>
          </a:p>
        </p:txBody>
      </p:sp>
      <p:sp>
        <p:nvSpPr>
          <p:cNvPr id="7" name="卡片底-自主成交系統"/>
          <p:cNvSpPr/>
          <p:nvPr/>
        </p:nvSpPr>
        <p:spPr>
          <a:xfrm>
            <a:off x="314325" y="1409700"/>
            <a:ext cx="5095875" cy="7400925"/>
          </a:xfrm>
          <a:prstGeom prst="roundRect">
            <a:avLst>
              <a:gd name="adj" fmla="val 4112"/>
            </a:avLst>
          </a:prstGeom>
          <a:solidFill>
            <a:srgbClr val="E8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方案名-自主成交系統"/>
          <p:cNvSpPr txBox="1"/>
          <p:nvPr/>
        </p:nvSpPr>
        <p:spPr>
          <a:xfrm>
            <a:off x="314325" y="1552575"/>
            <a:ext cx="5095875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</a:pPr>
            <a:r>
              <a:rPr sz="3300" b="1">
                <a:solidFill>
                  <a:srgbClr val="1A1613"/>
                </a:solidFill>
                <a:latin typeface="Noto Serif TC"/>
                <a:ea typeface="Noto Serif TC"/>
                <a:cs typeface="Noto Serif TC"/>
              </a:rPr>
              <a:t>自主成交系統</a:t>
            </a:r>
          </a:p>
        </p:txBody>
      </p:sp>
      <p:sp>
        <p:nvSpPr>
          <p:cNvPr id="9" name="方案副標-自主成交系統"/>
          <p:cNvSpPr txBox="1"/>
          <p:nvPr/>
        </p:nvSpPr>
        <p:spPr>
          <a:xfrm>
            <a:off x="314325" y="2076450"/>
            <a:ext cx="509587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50"/>
              </a:lnSpc>
            </a:pPr>
            <a:r>
              <a:rPr sz="1875" b="1">
                <a:solidFill>
                  <a:srgbClr val="1A1613"/>
                </a:solidFill>
                <a:latin typeface="Noto Serif TC"/>
                <a:ea typeface="Noto Serif TC"/>
                <a:cs typeface="Noto Serif TC"/>
              </a:rPr>
              <a:t>完整建置・由你掌握成交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5775" y="2524125"/>
            <a:ext cx="4752975" cy="0"/>
          </a:xfrm>
          <a:prstGeom prst="line">
            <a:avLst/>
          </a:prstGeom>
          <a:ln w="12700">
            <a:solidFill>
              <a:srgbClr val="B9B1A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85775" y="3695700"/>
            <a:ext cx="4752975" cy="0"/>
          </a:xfrm>
          <a:prstGeom prst="line">
            <a:avLst/>
          </a:prstGeom>
          <a:ln w="12700">
            <a:solidFill>
              <a:srgbClr val="B9B1A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5775" y="5715000"/>
            <a:ext cx="4752975" cy="0"/>
          </a:xfrm>
          <a:prstGeom prst="line">
            <a:avLst/>
          </a:prstGeom>
          <a:ln w="12700">
            <a:solidFill>
              <a:srgbClr val="B9B1A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5775" y="6581775"/>
            <a:ext cx="4752975" cy="0"/>
          </a:xfrm>
          <a:prstGeom prst="line">
            <a:avLst/>
          </a:prstGeom>
          <a:ln w="12700">
            <a:solidFill>
              <a:srgbClr val="B9B1AA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標籤底-適合對象"/>
          <p:cNvSpPr/>
          <p:nvPr/>
        </p:nvSpPr>
        <p:spPr>
          <a:xfrm>
            <a:off x="476250" y="267652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EA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7225" y="2752725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125" y="2857500"/>
            <a:ext cx="171450" cy="85725"/>
          </a:xfrm>
          <a:prstGeom prst="roundRect">
            <a:avLst>
              <a:gd name="adj" fmla="val 44444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標籤-適合對象"/>
          <p:cNvSpPr txBox="1"/>
          <p:nvPr/>
        </p:nvSpPr>
        <p:spPr>
          <a:xfrm>
            <a:off x="914400" y="267652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適合對象</a:t>
            </a:r>
          </a:p>
        </p:txBody>
      </p:sp>
      <p:sp>
        <p:nvSpPr>
          <p:cNvPr id="18" name="適合對象-自主成交系統"/>
          <p:cNvSpPr txBox="1"/>
          <p:nvPr/>
        </p:nvSpPr>
        <p:spPr>
          <a:xfrm>
            <a:off x="1905000" y="2643187"/>
            <a:ext cx="3486150" cy="990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適合已有營運能力或人員，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希望自己接手經營、親自談客戶的你。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從定位、銷講到預約流程，團隊替你建好。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在真實流量下完成測試與必要修正，再完整交接。</a:t>
            </a:r>
          </a:p>
        </p:txBody>
      </p:sp>
      <p:sp>
        <p:nvSpPr>
          <p:cNvPr id="19" name="標籤底-你會得到"/>
          <p:cNvSpPr/>
          <p:nvPr/>
        </p:nvSpPr>
        <p:spPr>
          <a:xfrm>
            <a:off x="476250" y="381952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EA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125" y="3943350"/>
            <a:ext cx="171450" cy="476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650" y="4000500"/>
            <a:ext cx="152400" cy="857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175" y="388620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4375" y="388620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標籤-你會得到"/>
          <p:cNvSpPr txBox="1"/>
          <p:nvPr/>
        </p:nvSpPr>
        <p:spPr>
          <a:xfrm>
            <a:off x="914400" y="381952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你會得到</a:t>
            </a:r>
          </a:p>
        </p:txBody>
      </p:sp>
      <p:sp>
        <p:nvSpPr>
          <p:cNvPr id="25" name="你會得到-自主成交系統"/>
          <p:cNvSpPr txBox="1"/>
          <p:nvPr/>
        </p:nvSpPr>
        <p:spPr>
          <a:xfrm>
            <a:off x="1943100" y="3814762"/>
            <a:ext cx="3448050" cy="1581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深度訪談、市場調查與差異化定位</a:t>
            </a:r>
          </a:p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成交訊息、銷講腳本與拍攝規劃</a:t>
            </a:r>
          </a:p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註冊、銷講、申請、預約與自動信件流程</a:t>
            </a:r>
          </a:p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廣告追蹤設定、首波素材與上線準備</a:t>
            </a:r>
          </a:p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正式投放後 14 天啟動校準</a:t>
            </a:r>
          </a:p>
          <a:p>
            <a:pPr algn="l" marL="209550" indent="-209550">
              <a:lnSpc>
                <a:spcPts val="2025"/>
              </a:lnSpc>
              <a:buClr>
                <a:srgbClr val="2A2420"/>
              </a:buClr>
              <a:buFont typeface="Arial"/>
              <a:buChar char="•"/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基本諮詢流程、跟進說明與操作交接</a:t>
            </a:r>
          </a:p>
        </p:txBody>
      </p:sp>
      <p:sp>
        <p:nvSpPr>
          <p:cNvPr id="26" name="標籤底-合作分工"/>
          <p:cNvSpPr/>
          <p:nvPr/>
        </p:nvSpPr>
        <p:spPr>
          <a:xfrm>
            <a:off x="476250" y="5810250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EA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1025" y="58769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2475" y="58769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7225" y="5857875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1975" y="59912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62000" y="59912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8175" y="5981700"/>
            <a:ext cx="133350" cy="76200"/>
          </a:xfrm>
          <a:prstGeom prst="roundRect">
            <a:avLst>
              <a:gd name="adj" fmla="val 375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標籤-合作分工"/>
          <p:cNvSpPr txBox="1"/>
          <p:nvPr/>
        </p:nvSpPr>
        <p:spPr>
          <a:xfrm>
            <a:off x="914400" y="581025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合作分工</a:t>
            </a:r>
          </a:p>
        </p:txBody>
      </p:sp>
      <p:sp>
        <p:nvSpPr>
          <p:cNvPr id="34" name="合作分工-自主成交系統"/>
          <p:cNvSpPr txBox="1"/>
          <p:nvPr/>
        </p:nvSpPr>
        <p:spPr>
          <a:xfrm>
            <a:off x="1924050" y="5786437"/>
            <a:ext cx="3467100" cy="75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團隊負責建置與啟動校準。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交接後，由你負責日常營運、諮詢、跟進與成交。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廣告可自行投放，或加購團隊投放服務。</a:t>
            </a:r>
          </a:p>
        </p:txBody>
      </p:sp>
      <p:sp>
        <p:nvSpPr>
          <p:cNvPr id="35" name="標籤底-專案費"/>
          <p:cNvSpPr/>
          <p:nvPr/>
        </p:nvSpPr>
        <p:spPr>
          <a:xfrm>
            <a:off x="476250" y="671512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EA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9125" y="690562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EA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19125" y="685800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EA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9125" y="681037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EA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9125" y="676275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EADC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標籤-專案費"/>
          <p:cNvSpPr txBox="1"/>
          <p:nvPr/>
        </p:nvSpPr>
        <p:spPr>
          <a:xfrm>
            <a:off x="914400" y="671512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專案費</a:t>
            </a:r>
          </a:p>
        </p:txBody>
      </p:sp>
      <p:sp>
        <p:nvSpPr>
          <p:cNvPr id="41" name="價格-自主成交系統"/>
          <p:cNvSpPr txBox="1"/>
          <p:nvPr/>
        </p:nvSpPr>
        <p:spPr>
          <a:xfrm>
            <a:off x="1943100" y="6657975"/>
            <a:ext cx="34480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</a:pPr>
            <a:r>
              <a:rPr sz="2250" b="1">
                <a:solidFill>
                  <a:srgbClr val="1A1613"/>
                </a:solidFill>
                <a:latin typeface="Noto Serif TC"/>
                <a:ea typeface="Noto Serif TC"/>
                <a:cs typeface="Noto Serif TC"/>
              </a:rPr>
              <a:t>NT$ </a:t>
            </a:r>
            <a:r>
              <a:rPr sz="4650" b="1">
                <a:solidFill>
                  <a:srgbClr val="1A1613"/>
                </a:solidFill>
                <a:latin typeface="Noto Serif TC"/>
                <a:ea typeface="Noto Serif TC"/>
                <a:cs typeface="Noto Serif TC"/>
              </a:rPr>
              <a:t>126,000</a:t>
            </a:r>
          </a:p>
        </p:txBody>
      </p:sp>
      <p:sp>
        <p:nvSpPr>
          <p:cNvPr id="42" name="付款說明-自主成交系統"/>
          <p:cNvSpPr txBox="1"/>
          <p:nvPr/>
        </p:nvSpPr>
        <p:spPr>
          <a:xfrm>
            <a:off x="1943100" y="7286625"/>
            <a:ext cx="34480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含 5% 營業稅｜一次付清</a:t>
            </a:r>
          </a:p>
        </p:txBody>
      </p:sp>
      <p:sp>
        <p:nvSpPr>
          <p:cNvPr id="43" name="附註底-自主成交系統"/>
          <p:cNvSpPr/>
          <p:nvPr/>
        </p:nvSpPr>
        <p:spPr>
          <a:xfrm>
            <a:off x="1933575" y="7648575"/>
            <a:ext cx="3000375" cy="323850"/>
          </a:xfrm>
          <a:prstGeom prst="roundRect">
            <a:avLst>
              <a:gd name="adj" fmla="val 50000"/>
            </a:avLst>
          </a:prstGeom>
          <a:solidFill>
            <a:srgbClr val="EAD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附註-自主成交系統"/>
          <p:cNvSpPr txBox="1"/>
          <p:nvPr/>
        </p:nvSpPr>
        <p:spPr>
          <a:xfrm>
            <a:off x="1933575" y="7648575"/>
            <a:ext cx="3000375" cy="3238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800"/>
              </a:lnSpc>
            </a:pPr>
            <a:r>
              <a:rPr sz="1214" b="0">
                <a:solidFill>
                  <a:srgbClr val="2A2420"/>
                </a:solidFill>
                <a:latin typeface="Noto Serif TC"/>
                <a:ea typeface="Noto Serif TC"/>
                <a:cs typeface="Noto Serif TC"/>
              </a:rPr>
              <a:t>已交付的系統資產，永久歸你所有。</a:t>
            </a:r>
          </a:p>
        </p:txBody>
      </p:sp>
      <p:sp>
        <p:nvSpPr>
          <p:cNvPr id="45" name="標語底-自主成交系統"/>
          <p:cNvSpPr/>
          <p:nvPr/>
        </p:nvSpPr>
        <p:spPr>
          <a:xfrm>
            <a:off x="495300" y="8286750"/>
            <a:ext cx="4733925" cy="419100"/>
          </a:xfrm>
          <a:prstGeom prst="roundRect">
            <a:avLst>
              <a:gd name="adj" fmla="val 50000"/>
            </a:avLst>
          </a:prstGeom>
          <a:solidFill>
            <a:srgbClr val="6A6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標語-自主成交系統"/>
          <p:cNvSpPr txBox="1"/>
          <p:nvPr/>
        </p:nvSpPr>
        <p:spPr>
          <a:xfrm>
            <a:off x="495300" y="8286750"/>
            <a:ext cx="4733925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100"/>
              </a:lnSpc>
            </a:pPr>
            <a:r>
              <a:rPr sz="1425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完整建好後，由你接手成交主導權</a:t>
            </a:r>
          </a:p>
        </p:txBody>
      </p:sp>
      <p:sp>
        <p:nvSpPr>
          <p:cNvPr id="47" name="卡片底-成交增長系統"/>
          <p:cNvSpPr/>
          <p:nvPr/>
        </p:nvSpPr>
        <p:spPr>
          <a:xfrm>
            <a:off x="5534025" y="1371600"/>
            <a:ext cx="4867275" cy="7410450"/>
          </a:xfrm>
          <a:prstGeom prst="roundRect">
            <a:avLst>
              <a:gd name="adj" fmla="val 4305"/>
            </a:avLst>
          </a:prstGeom>
          <a:solidFill>
            <a:srgbClr val="A67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皇冠"/>
          <p:cNvSpPr/>
          <p:nvPr/>
        </p:nvSpPr>
        <p:spPr>
          <a:xfrm>
            <a:off x="6334125" y="1619250"/>
            <a:ext cx="342900" cy="265557"/>
          </a:xfrm>
          <a:custGeom>
            <a:avLst/>
            <a:gdLst/>
            <a:ahLst/>
            <a:cxnLst/>
            <a:rect l="l" t="t" r="r" b="b"/>
            <a:pathLst>
              <a:path w="342900" h="265557">
                <a:moveTo>
                  <a:pt x="0" y="265557"/>
                </a:moveTo>
                <a:lnTo>
                  <a:pt x="0" y="80962"/>
                </a:lnTo>
                <a:lnTo>
                  <a:pt x="85725" y="178117"/>
                </a:lnTo>
                <a:lnTo>
                  <a:pt x="171450" y="0"/>
                </a:lnTo>
                <a:lnTo>
                  <a:pt x="257175" y="178117"/>
                </a:lnTo>
                <a:lnTo>
                  <a:pt x="342900" y="80962"/>
                </a:lnTo>
                <a:lnTo>
                  <a:pt x="308610" y="265557"/>
                </a:lnTo>
                <a:lnTo>
                  <a:pt x="34290" y="265557"/>
                </a:lnTo>
                <a:close/>
              </a:path>
            </a:pathLst>
          </a:custGeom>
          <a:solidFill>
            <a:srgbClr val="E9C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68415" y="1904238"/>
            <a:ext cx="274320" cy="38862"/>
          </a:xfrm>
          <a:prstGeom prst="rect">
            <a:avLst/>
          </a:prstGeom>
          <a:solidFill>
            <a:srgbClr val="E9C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方案名-成交增長系統"/>
          <p:cNvSpPr txBox="1"/>
          <p:nvPr/>
        </p:nvSpPr>
        <p:spPr>
          <a:xfrm>
            <a:off x="6772275" y="1552575"/>
            <a:ext cx="314325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sz="3300" b="1">
                <a:solidFill>
                  <a:srgbClr val="FFF8F1"/>
                </a:solidFill>
                <a:latin typeface="Noto Serif TC"/>
                <a:ea typeface="Noto Serif TC"/>
                <a:cs typeface="Noto Serif TC"/>
              </a:rPr>
              <a:t>成交增長系統</a:t>
            </a:r>
          </a:p>
        </p:txBody>
      </p:sp>
      <p:sp>
        <p:nvSpPr>
          <p:cNvPr id="51" name="方案副標-成交增長系統"/>
          <p:cNvSpPr txBox="1"/>
          <p:nvPr/>
        </p:nvSpPr>
        <p:spPr>
          <a:xfrm>
            <a:off x="5534025" y="2076450"/>
            <a:ext cx="486727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50"/>
              </a:lnSpc>
            </a:pPr>
            <a:r>
              <a:rPr sz="1875" b="1">
                <a:solidFill>
                  <a:srgbClr val="FFF8F1"/>
                </a:solidFill>
                <a:latin typeface="Noto Serif TC"/>
                <a:ea typeface="Noto Serif TC"/>
                <a:cs typeface="Noto Serif TC"/>
              </a:rPr>
              <a:t>團隊持續優化・陪你練習成交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705475" y="2524125"/>
            <a:ext cx="4524375" cy="0"/>
          </a:xfrm>
          <a:prstGeom prst="line">
            <a:avLst/>
          </a:prstGeom>
          <a:ln w="12700">
            <a:solidFill>
              <a:srgbClr val="D9B7A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705475" y="3686175"/>
            <a:ext cx="4524375" cy="0"/>
          </a:xfrm>
          <a:prstGeom prst="line">
            <a:avLst/>
          </a:prstGeom>
          <a:ln w="12700">
            <a:solidFill>
              <a:srgbClr val="D9B7A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705475" y="5762625"/>
            <a:ext cx="4524375" cy="0"/>
          </a:xfrm>
          <a:prstGeom prst="line">
            <a:avLst/>
          </a:prstGeom>
          <a:ln w="12700">
            <a:solidFill>
              <a:srgbClr val="D9B7A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05475" y="6572250"/>
            <a:ext cx="4524375" cy="0"/>
          </a:xfrm>
          <a:prstGeom prst="line">
            <a:avLst/>
          </a:prstGeom>
          <a:ln w="12700">
            <a:solidFill>
              <a:srgbClr val="D9B7A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標籤底-適合對象"/>
          <p:cNvSpPr/>
          <p:nvPr/>
        </p:nvSpPr>
        <p:spPr>
          <a:xfrm>
            <a:off x="5695950" y="265747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F6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876925" y="2733675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838825" y="2838450"/>
            <a:ext cx="171450" cy="85725"/>
          </a:xfrm>
          <a:prstGeom prst="roundRect">
            <a:avLst>
              <a:gd name="adj" fmla="val 44444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標籤-適合對象"/>
          <p:cNvSpPr txBox="1"/>
          <p:nvPr/>
        </p:nvSpPr>
        <p:spPr>
          <a:xfrm>
            <a:off x="6134100" y="265747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適合對象</a:t>
            </a:r>
          </a:p>
        </p:txBody>
      </p:sp>
      <p:sp>
        <p:nvSpPr>
          <p:cNvPr id="60" name="適合對象-成交增長系統"/>
          <p:cNvSpPr txBox="1"/>
          <p:nvPr/>
        </p:nvSpPr>
        <p:spPr>
          <a:xfrm>
            <a:off x="7124700" y="2633662"/>
            <a:ext cx="3257550" cy="990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推薦給願意親自談客戶，</a:t>
            </a:r>
          </a:p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希望獲客與成交流程都有團隊支援的你。</a:t>
            </a:r>
          </a:p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系統建好後，接著由團隊進行 90 天測試與優化。</a:t>
            </a:r>
          </a:p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你也有機會先演練、再用真實通話調整談法。</a:t>
            </a:r>
          </a:p>
        </p:txBody>
      </p:sp>
      <p:sp>
        <p:nvSpPr>
          <p:cNvPr id="61" name="標籤底-你會得到"/>
          <p:cNvSpPr/>
          <p:nvPr/>
        </p:nvSpPr>
        <p:spPr>
          <a:xfrm>
            <a:off x="5695950" y="383857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F6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38825" y="3962400"/>
            <a:ext cx="171450" cy="476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48350" y="4019550"/>
            <a:ext cx="152400" cy="857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857875" y="390525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5934075" y="390525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標籤-你會得到"/>
          <p:cNvSpPr txBox="1"/>
          <p:nvPr/>
        </p:nvSpPr>
        <p:spPr>
          <a:xfrm>
            <a:off x="6134100" y="383857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你會得到</a:t>
            </a:r>
          </a:p>
        </p:txBody>
      </p:sp>
      <p:sp>
        <p:nvSpPr>
          <p:cNvPr id="67" name="你會得到-成交增長系統"/>
          <p:cNvSpPr txBox="1"/>
          <p:nvPr/>
        </p:nvSpPr>
        <p:spPr>
          <a:xfrm>
            <a:off x="7162800" y="3773328"/>
            <a:ext cx="3219450" cy="1996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自主成交系統的完整建置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90 天市場服務，含首波啟動校準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3 輪廣告角度與素材測試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3 輪漏斗與轉換流程優化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客製諮詢流程與跟進範本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2 次各 60 分鐘成交演練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3 次實際諮詢錄音回饋</a:t>
            </a:r>
          </a:p>
          <a:p>
            <a:pPr algn="l" marL="209550" indent="-209550">
              <a:lnSpc>
                <a:spcPts val="1927"/>
              </a:lnSpc>
              <a:buClr>
                <a:srgbClr val="FFF4EA"/>
              </a:buClr>
              <a:buFont typeface="Arial"/>
              <a:buChar char="•"/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每月 1 次營運檢視，期滿完整交接</a:t>
            </a:r>
          </a:p>
        </p:txBody>
      </p:sp>
      <p:sp>
        <p:nvSpPr>
          <p:cNvPr id="68" name="標籤底-合作分工"/>
          <p:cNvSpPr/>
          <p:nvPr/>
        </p:nvSpPr>
        <p:spPr>
          <a:xfrm>
            <a:off x="5695950" y="5848350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F6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800725" y="59150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972175" y="59150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876925" y="5895975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781675" y="60293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981700" y="60293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857875" y="6019800"/>
            <a:ext cx="133350" cy="76200"/>
          </a:xfrm>
          <a:prstGeom prst="roundRect">
            <a:avLst>
              <a:gd name="adj" fmla="val 375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標籤-合作分工"/>
          <p:cNvSpPr txBox="1"/>
          <p:nvPr/>
        </p:nvSpPr>
        <p:spPr>
          <a:xfrm>
            <a:off x="6134100" y="584835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合作分工</a:t>
            </a:r>
          </a:p>
        </p:txBody>
      </p:sp>
      <p:sp>
        <p:nvSpPr>
          <p:cNvPr id="76" name="合作分工-成交增長系統"/>
          <p:cNvSpPr txBox="1"/>
          <p:nvPr/>
        </p:nvSpPr>
        <p:spPr>
          <a:xfrm>
            <a:off x="7143750" y="5834062"/>
            <a:ext cx="3238500" cy="75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團隊負責素材測試、漏斗優化與成交支援。</a:t>
            </a:r>
          </a:p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你負責親自諮詢、練習、跟進與成交，</a:t>
            </a:r>
          </a:p>
          <a:p>
            <a:pPr algn="l">
              <a:lnSpc>
                <a:spcPts val="1875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並提供素材、成交紀錄與通話資料。</a:t>
            </a:r>
          </a:p>
        </p:txBody>
      </p:sp>
      <p:sp>
        <p:nvSpPr>
          <p:cNvPr id="77" name="標籤底-專案費"/>
          <p:cNvSpPr/>
          <p:nvPr/>
        </p:nvSpPr>
        <p:spPr>
          <a:xfrm>
            <a:off x="5695950" y="6686550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F6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838825" y="687705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F6E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838825" y="682942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F6E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838825" y="678180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F6E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838825" y="673417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F6E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標籤-專案費"/>
          <p:cNvSpPr txBox="1"/>
          <p:nvPr/>
        </p:nvSpPr>
        <p:spPr>
          <a:xfrm>
            <a:off x="6134100" y="668655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專案費</a:t>
            </a:r>
          </a:p>
        </p:txBody>
      </p:sp>
      <p:sp>
        <p:nvSpPr>
          <p:cNvPr id="83" name="價格-成交增長系統"/>
          <p:cNvSpPr txBox="1"/>
          <p:nvPr/>
        </p:nvSpPr>
        <p:spPr>
          <a:xfrm>
            <a:off x="7162800" y="6515100"/>
            <a:ext cx="321945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</a:pPr>
            <a:r>
              <a:rPr sz="2250" b="1">
                <a:solidFill>
                  <a:srgbClr val="FFF8F1"/>
                </a:solidFill>
                <a:latin typeface="Noto Serif TC"/>
                <a:ea typeface="Noto Serif TC"/>
                <a:cs typeface="Noto Serif TC"/>
              </a:rPr>
              <a:t>NT$ </a:t>
            </a:r>
            <a:r>
              <a:rPr sz="4650" b="1">
                <a:solidFill>
                  <a:srgbClr val="FFF8F1"/>
                </a:solidFill>
                <a:latin typeface="Noto Serif TC"/>
                <a:ea typeface="Noto Serif TC"/>
                <a:cs typeface="Noto Serif TC"/>
              </a:rPr>
              <a:t>176,400</a:t>
            </a:r>
          </a:p>
        </p:txBody>
      </p:sp>
      <p:sp>
        <p:nvSpPr>
          <p:cNvPr id="84" name="付款說明-成交增長系統"/>
          <p:cNvSpPr txBox="1"/>
          <p:nvPr/>
        </p:nvSpPr>
        <p:spPr>
          <a:xfrm>
            <a:off x="7162800" y="7086600"/>
            <a:ext cx="32194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含 5% 營業稅</a:t>
            </a:r>
          </a:p>
          <a:p>
            <a:pPr algn="l">
              <a:lnSpc>
                <a:spcPts val="1950"/>
              </a:lnSpc>
            </a:pPr>
            <a:r>
              <a:rPr sz="1139" b="0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一次付清，或分 3 期｜每期 NT$58,800</a:t>
            </a:r>
          </a:p>
        </p:txBody>
      </p:sp>
      <p:sp>
        <p:nvSpPr>
          <p:cNvPr id="85" name="附註底-成交增長系統"/>
          <p:cNvSpPr/>
          <p:nvPr/>
        </p:nvSpPr>
        <p:spPr>
          <a:xfrm>
            <a:off x="7019925" y="7591425"/>
            <a:ext cx="3209925" cy="647700"/>
          </a:xfrm>
          <a:prstGeom prst="roundRect">
            <a:avLst>
              <a:gd name="adj" fmla="val 17647"/>
            </a:avLst>
          </a:prstGeom>
          <a:solidFill>
            <a:srgbClr val="F4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附註-成交增長系統"/>
          <p:cNvSpPr txBox="1"/>
          <p:nvPr/>
        </p:nvSpPr>
        <p:spPr>
          <a:xfrm>
            <a:off x="7153275" y="7629525"/>
            <a:ext cx="3019425" cy="609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1450" indent="-171450">
              <a:lnSpc>
                <a:spcPts val="1500"/>
              </a:lnSpc>
              <a:buClr>
                <a:srgbClr val="7A4A35"/>
              </a:buClr>
              <a:buFont typeface="Arial"/>
              <a:buChar char="•"/>
            </a:pPr>
            <a:r>
              <a:rPr sz="1125" b="0">
                <a:solidFill>
                  <a:srgbClr val="4A3328"/>
                </a:solidFill>
                <a:latin typeface="Noto Serif TC"/>
                <a:ea typeface="Noto Serif TC"/>
                <a:cs typeface="Noto Serif TC"/>
              </a:rPr>
              <a:t>不收成交分潤。</a:t>
            </a:r>
          </a:p>
          <a:p>
            <a:pPr algn="l" marL="171450" indent="-171450">
              <a:lnSpc>
                <a:spcPts val="1500"/>
              </a:lnSpc>
              <a:buClr>
                <a:srgbClr val="7A4A35"/>
              </a:buClr>
              <a:buFont typeface="Arial"/>
              <a:buChar char="•"/>
            </a:pPr>
            <a:r>
              <a:rPr sz="1125" b="0">
                <a:solidFill>
                  <a:srgbClr val="4A3328"/>
                </a:solidFill>
                <a:latin typeface="Noto Serif TC"/>
                <a:ea typeface="Noto Serif TC"/>
                <a:cs typeface="Noto Serif TC"/>
              </a:rPr>
              <a:t>已交付的系統資產，永久歸你所有。</a:t>
            </a:r>
          </a:p>
          <a:p>
            <a:pPr algn="l" marL="171450" indent="-171450">
              <a:lnSpc>
                <a:spcPts val="1500"/>
              </a:lnSpc>
              <a:buClr>
                <a:srgbClr val="7A4A35"/>
              </a:buClr>
              <a:buFont typeface="Arial"/>
              <a:buChar char="•"/>
            </a:pPr>
            <a:r>
              <a:rPr sz="1125" b="0">
                <a:solidFill>
                  <a:srgbClr val="4A3328"/>
                </a:solidFill>
                <a:latin typeface="Noto Serif TC"/>
                <a:ea typeface="Noto Serif TC"/>
                <a:cs typeface="Noto Serif TC"/>
              </a:rPr>
              <a:t>適用服務完成保證。</a:t>
            </a:r>
          </a:p>
        </p:txBody>
      </p:sp>
      <p:sp>
        <p:nvSpPr>
          <p:cNvPr id="87" name="標語底-成交增長系統"/>
          <p:cNvSpPr/>
          <p:nvPr/>
        </p:nvSpPr>
        <p:spPr>
          <a:xfrm>
            <a:off x="5686425" y="8286750"/>
            <a:ext cx="4562475" cy="419100"/>
          </a:xfrm>
          <a:prstGeom prst="roundRect">
            <a:avLst>
              <a:gd name="adj" fmla="val 50000"/>
            </a:avLst>
          </a:prstGeom>
          <a:solidFill>
            <a:srgbClr val="5C38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標語-成交增長系統"/>
          <p:cNvSpPr txBox="1"/>
          <p:nvPr/>
        </p:nvSpPr>
        <p:spPr>
          <a:xfrm>
            <a:off x="5686425" y="8286750"/>
            <a:ext cx="4562475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100"/>
              </a:lnSpc>
            </a:pPr>
            <a:r>
              <a:rPr sz="1425" b="1">
                <a:solidFill>
                  <a:srgbClr val="FFF4EA"/>
                </a:solidFill>
                <a:latin typeface="Noto Serif TC"/>
                <a:ea typeface="Noto Serif TC"/>
                <a:cs typeface="Noto Serif TC"/>
              </a:rPr>
              <a:t>團隊陪你優化，也陪你把成交能力練起來</a:t>
            </a:r>
          </a:p>
        </p:txBody>
      </p:sp>
      <p:sp>
        <p:nvSpPr>
          <p:cNvPr id="89" name="卡片底-代理成交系統"/>
          <p:cNvSpPr/>
          <p:nvPr/>
        </p:nvSpPr>
        <p:spPr>
          <a:xfrm>
            <a:off x="10525125" y="1409700"/>
            <a:ext cx="5114925" cy="7400925"/>
          </a:xfrm>
          <a:prstGeom prst="roundRect">
            <a:avLst>
              <a:gd name="adj" fmla="val 4096"/>
            </a:avLst>
          </a:prstGeom>
          <a:solidFill>
            <a:srgbClr val="DCE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方案名-代理成交系統"/>
          <p:cNvSpPr txBox="1"/>
          <p:nvPr/>
        </p:nvSpPr>
        <p:spPr>
          <a:xfrm>
            <a:off x="10525125" y="1552575"/>
            <a:ext cx="5114925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200"/>
              </a:lnSpc>
            </a:pPr>
            <a:r>
              <a:rPr sz="3300" b="1">
                <a:solidFill>
                  <a:srgbClr val="151812"/>
                </a:solidFill>
                <a:latin typeface="Noto Serif TC"/>
                <a:ea typeface="Noto Serif TC"/>
                <a:cs typeface="Noto Serif TC"/>
              </a:rPr>
              <a:t>代理成交系統</a:t>
            </a:r>
          </a:p>
        </p:txBody>
      </p:sp>
      <p:sp>
        <p:nvSpPr>
          <p:cNvPr id="91" name="方案副標-代理成交系統"/>
          <p:cNvSpPr txBox="1"/>
          <p:nvPr/>
        </p:nvSpPr>
        <p:spPr>
          <a:xfrm>
            <a:off x="10525125" y="2076450"/>
            <a:ext cx="5114925" cy="3619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2550"/>
              </a:lnSpc>
            </a:pPr>
            <a:r>
              <a:rPr sz="1875" b="1">
                <a:solidFill>
                  <a:srgbClr val="151812"/>
                </a:solidFill>
                <a:latin typeface="Noto Serif TC"/>
                <a:ea typeface="Noto Serif TC"/>
                <a:cs typeface="Noto Serif TC"/>
              </a:rPr>
              <a:t>團隊承接成交・讓你專注交付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0696575" y="2524125"/>
            <a:ext cx="4772025" cy="0"/>
          </a:xfrm>
          <a:prstGeom prst="line">
            <a:avLst/>
          </a:prstGeom>
          <a:ln w="12700">
            <a:solidFill>
              <a:srgbClr val="AEBBA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696575" y="3695700"/>
            <a:ext cx="4772025" cy="0"/>
          </a:xfrm>
          <a:prstGeom prst="line">
            <a:avLst/>
          </a:prstGeom>
          <a:ln w="12700">
            <a:solidFill>
              <a:srgbClr val="AEBBA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696575" y="5715000"/>
            <a:ext cx="4772025" cy="0"/>
          </a:xfrm>
          <a:prstGeom prst="line">
            <a:avLst/>
          </a:prstGeom>
          <a:ln w="12700">
            <a:solidFill>
              <a:srgbClr val="AEBBA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696575" y="6572250"/>
            <a:ext cx="4772025" cy="0"/>
          </a:xfrm>
          <a:prstGeom prst="line">
            <a:avLst/>
          </a:prstGeom>
          <a:ln w="12700">
            <a:solidFill>
              <a:srgbClr val="AEBBA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標籤底-適合對象"/>
          <p:cNvSpPr/>
          <p:nvPr/>
        </p:nvSpPr>
        <p:spPr>
          <a:xfrm>
            <a:off x="10687050" y="2667000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CCD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2743200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829925" y="2847975"/>
            <a:ext cx="171450" cy="85725"/>
          </a:xfrm>
          <a:prstGeom prst="roundRect">
            <a:avLst>
              <a:gd name="adj" fmla="val 44444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標籤-適合對象"/>
          <p:cNvSpPr txBox="1"/>
          <p:nvPr/>
        </p:nvSpPr>
        <p:spPr>
          <a:xfrm>
            <a:off x="11125200" y="266700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適合對象</a:t>
            </a:r>
          </a:p>
        </p:txBody>
      </p:sp>
      <p:sp>
        <p:nvSpPr>
          <p:cNvPr id="100" name="適合對象-代理成交系統"/>
          <p:cNvSpPr txBox="1"/>
          <p:nvPr/>
        </p:nvSpPr>
        <p:spPr>
          <a:xfrm>
            <a:off x="12115800" y="2633662"/>
            <a:ext cx="3505200" cy="990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適合希望把諮詢與跟進交給團隊，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將時間留給產品、服務與客戶交付的你。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從客戶進站、理解價值、申請諮詢，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到顧問通話與後續跟進，由團隊承接。</a:t>
            </a:r>
          </a:p>
        </p:txBody>
      </p:sp>
      <p:sp>
        <p:nvSpPr>
          <p:cNvPr id="101" name="標籤底-你會得到"/>
          <p:cNvSpPr/>
          <p:nvPr/>
        </p:nvSpPr>
        <p:spPr>
          <a:xfrm>
            <a:off x="10687050" y="381952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CCD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829925" y="3943350"/>
            <a:ext cx="171450" cy="476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839450" y="4000500"/>
            <a:ext cx="152400" cy="85725"/>
          </a:xfrm>
          <a:prstGeom prst="rect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848975" y="388620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925175" y="3886200"/>
            <a:ext cx="57150" cy="571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標籤-你會得到"/>
          <p:cNvSpPr txBox="1"/>
          <p:nvPr/>
        </p:nvSpPr>
        <p:spPr>
          <a:xfrm>
            <a:off x="11125200" y="381952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你會得到</a:t>
            </a:r>
          </a:p>
        </p:txBody>
      </p:sp>
      <p:sp>
        <p:nvSpPr>
          <p:cNvPr id="107" name="你會得到-代理成交系統"/>
          <p:cNvSpPr txBox="1"/>
          <p:nvPr/>
        </p:nvSpPr>
        <p:spPr>
          <a:xfrm>
            <a:off x="12153900" y="3749040"/>
            <a:ext cx="3467100" cy="19278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完整系統建置與 90 天市場服務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素材測試、漏斗優化與廣告投放服務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顧問熟悉你的產品、案例與交付限制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客製諮詢、報價、異議處理與跟進流程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價格授權、付款規則與客戶管理流程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顧問承接 45–60 分鐘成交諮詢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未成交名單依約定流程跟進與再邀約</a:t>
            </a:r>
          </a:p>
          <a:p>
            <a:pPr algn="l" marL="209550" indent="-209550">
              <a:lnSpc>
                <a:spcPts val="1860"/>
              </a:lnSpc>
              <a:buClr>
                <a:srgbClr val="1F231C"/>
              </a:buClr>
              <a:buFont typeface="Arial"/>
              <a:buChar char="•"/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顧問訓練、品質檢查與成交方式校正</a:t>
            </a:r>
          </a:p>
        </p:txBody>
      </p:sp>
      <p:sp>
        <p:nvSpPr>
          <p:cNvPr id="108" name="標籤底-合作分工"/>
          <p:cNvSpPr/>
          <p:nvPr/>
        </p:nvSpPr>
        <p:spPr>
          <a:xfrm>
            <a:off x="10687050" y="5810250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CCD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791825" y="58769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0963275" y="5876925"/>
            <a:ext cx="76200" cy="7620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868025" y="5857875"/>
            <a:ext cx="95250" cy="95250"/>
          </a:xfrm>
          <a:prstGeom prst="ellipse">
            <a:avLst/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0772775" y="59912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972800" y="5991225"/>
            <a:ext cx="85725" cy="66675"/>
          </a:xfrm>
          <a:prstGeom prst="roundRect">
            <a:avLst>
              <a:gd name="adj" fmla="val 42857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0848975" y="5981700"/>
            <a:ext cx="133350" cy="76200"/>
          </a:xfrm>
          <a:prstGeom prst="roundRect">
            <a:avLst>
              <a:gd name="adj" fmla="val 37500"/>
            </a:avLst>
          </a:prstGeom>
          <a:solidFill>
            <a:srgbClr val="2C2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標籤-合作分工"/>
          <p:cNvSpPr txBox="1"/>
          <p:nvPr/>
        </p:nvSpPr>
        <p:spPr>
          <a:xfrm>
            <a:off x="11125200" y="5810250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合作分工</a:t>
            </a:r>
          </a:p>
        </p:txBody>
      </p:sp>
      <p:sp>
        <p:nvSpPr>
          <p:cNvPr id="116" name="合作分工-代理成交系統"/>
          <p:cNvSpPr txBox="1"/>
          <p:nvPr/>
        </p:nvSpPr>
        <p:spPr>
          <a:xfrm>
            <a:off x="12134850" y="5795962"/>
            <a:ext cx="3486150" cy="752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團隊承接諮詢、跟進與成交。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你負責產品、交付與售後，</a:t>
            </a:r>
          </a:p>
          <a:p>
            <a:pPr algn="l">
              <a:lnSpc>
                <a:spcPts val="1875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並確認價格授權、付款規則與可承接客戶量。</a:t>
            </a:r>
          </a:p>
        </p:txBody>
      </p:sp>
      <p:sp>
        <p:nvSpPr>
          <p:cNvPr id="117" name="標籤底-專案費"/>
          <p:cNvSpPr/>
          <p:nvPr/>
        </p:nvSpPr>
        <p:spPr>
          <a:xfrm>
            <a:off x="10687050" y="6677025"/>
            <a:ext cx="1257300" cy="342900"/>
          </a:xfrm>
          <a:prstGeom prst="roundRect">
            <a:avLst>
              <a:gd name="adj" fmla="val 50000"/>
            </a:avLst>
          </a:prstGeom>
          <a:solidFill>
            <a:srgbClr val="CCDA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829925" y="686752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CCDA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829925" y="681990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CCDA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829925" y="6772275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CCDA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829925" y="6724650"/>
            <a:ext cx="171450" cy="76200"/>
          </a:xfrm>
          <a:prstGeom prst="ellipse">
            <a:avLst/>
          </a:prstGeom>
          <a:solidFill>
            <a:srgbClr val="2C2622"/>
          </a:solidFill>
          <a:ln w="9525">
            <a:solidFill>
              <a:srgbClr val="CCDA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標籤-專案費"/>
          <p:cNvSpPr txBox="1"/>
          <p:nvPr/>
        </p:nvSpPr>
        <p:spPr>
          <a:xfrm>
            <a:off x="11125200" y="6677025"/>
            <a:ext cx="800100" cy="3429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275" b="1">
                <a:solidFill>
                  <a:srgbClr val="2C2622"/>
                </a:solidFill>
                <a:latin typeface="Noto Serif TC"/>
                <a:ea typeface="Noto Serif TC"/>
                <a:cs typeface="Noto Serif TC"/>
              </a:rPr>
              <a:t>專案費</a:t>
            </a:r>
          </a:p>
        </p:txBody>
      </p:sp>
      <p:sp>
        <p:nvSpPr>
          <p:cNvPr id="123" name="價格-代理成交系統"/>
          <p:cNvSpPr txBox="1"/>
          <p:nvPr/>
        </p:nvSpPr>
        <p:spPr>
          <a:xfrm>
            <a:off x="12153900" y="6496050"/>
            <a:ext cx="3467100" cy="723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</a:pPr>
            <a:r>
              <a:rPr sz="2250" b="1">
                <a:solidFill>
                  <a:srgbClr val="151812"/>
                </a:solidFill>
                <a:latin typeface="Noto Serif TC"/>
                <a:ea typeface="Noto Serif TC"/>
                <a:cs typeface="Noto Serif TC"/>
              </a:rPr>
              <a:t>NT$ </a:t>
            </a:r>
            <a:r>
              <a:rPr sz="4650" b="1">
                <a:solidFill>
                  <a:srgbClr val="151812"/>
                </a:solidFill>
                <a:latin typeface="Noto Serif TC"/>
                <a:ea typeface="Noto Serif TC"/>
                <a:cs typeface="Noto Serif TC"/>
              </a:rPr>
              <a:t>239,400</a:t>
            </a:r>
          </a:p>
        </p:txBody>
      </p:sp>
      <p:sp>
        <p:nvSpPr>
          <p:cNvPr id="124" name="付款說明-代理成交系統"/>
          <p:cNvSpPr txBox="1"/>
          <p:nvPr/>
        </p:nvSpPr>
        <p:spPr>
          <a:xfrm>
            <a:off x="12153900" y="7048500"/>
            <a:ext cx="346710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含 5% 營業稅</a:t>
            </a:r>
          </a:p>
          <a:p>
            <a:pPr algn="l">
              <a:lnSpc>
                <a:spcPts val="1950"/>
              </a:lnSpc>
            </a:pPr>
            <a:r>
              <a:rPr sz="1214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一次付清，或分 3 期｜每期 NT$79,800</a:t>
            </a:r>
          </a:p>
        </p:txBody>
      </p:sp>
      <p:sp>
        <p:nvSpPr>
          <p:cNvPr id="125" name="附註底-代理成交系統"/>
          <p:cNvSpPr/>
          <p:nvPr/>
        </p:nvSpPr>
        <p:spPr>
          <a:xfrm>
            <a:off x="12058650" y="7543800"/>
            <a:ext cx="3409950" cy="714375"/>
          </a:xfrm>
          <a:prstGeom prst="roundRect">
            <a:avLst>
              <a:gd name="adj" fmla="val 16000"/>
            </a:avLst>
          </a:prstGeom>
          <a:solidFill>
            <a:srgbClr val="EE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附註-代理成交系統"/>
          <p:cNvSpPr txBox="1"/>
          <p:nvPr/>
        </p:nvSpPr>
        <p:spPr>
          <a:xfrm>
            <a:off x="12192000" y="7544752"/>
            <a:ext cx="3219450" cy="7505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71450" indent="-171450">
              <a:lnSpc>
                <a:spcPts val="1402"/>
              </a:lnSpc>
              <a:buClr>
                <a:srgbClr val="2A2420"/>
              </a:buClr>
              <a:buFont typeface="Arial"/>
              <a:buChar char="•"/>
            </a:pPr>
            <a:r>
              <a:rPr sz="1050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另收 30% 成交分潤。</a:t>
            </a:r>
          </a:p>
          <a:p>
            <a:pPr algn="l" marL="171450" indent="-171450">
              <a:lnSpc>
                <a:spcPts val="1402"/>
              </a:lnSpc>
              <a:buClr>
                <a:srgbClr val="2A2420"/>
              </a:buClr>
              <a:buFont typeface="Arial"/>
              <a:buChar char="•"/>
            </a:pPr>
            <a:r>
              <a:rPr sz="1050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未成交不收成交分潤；專案費仍依約收取。</a:t>
            </a:r>
          </a:p>
          <a:p>
            <a:pPr algn="l" marL="171450" indent="-171450">
              <a:lnSpc>
                <a:spcPts val="1402"/>
              </a:lnSpc>
              <a:buClr>
                <a:srgbClr val="2A2420"/>
              </a:buClr>
              <a:buFont typeface="Arial"/>
              <a:buChar char="•"/>
            </a:pPr>
            <a:r>
              <a:rPr sz="1050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已交付的系統資產，永久歸你所有。</a:t>
            </a:r>
          </a:p>
          <a:p>
            <a:pPr algn="l" marL="171450" indent="-171450">
              <a:lnSpc>
                <a:spcPts val="1402"/>
              </a:lnSpc>
              <a:buClr>
                <a:srgbClr val="2A2420"/>
              </a:buClr>
              <a:buFont typeface="Arial"/>
              <a:buChar char="•"/>
            </a:pPr>
            <a:r>
              <a:rPr sz="1050" b="0">
                <a:solidFill>
                  <a:srgbClr val="1F231C"/>
                </a:solidFill>
                <a:latin typeface="Noto Serif TC"/>
                <a:ea typeface="Noto Serif TC"/>
                <a:cs typeface="Noto Serif TC"/>
              </a:rPr>
              <a:t>適用服務完成保證。</a:t>
            </a:r>
          </a:p>
        </p:txBody>
      </p:sp>
      <p:sp>
        <p:nvSpPr>
          <p:cNvPr id="127" name="標語底-代理成交系統"/>
          <p:cNvSpPr/>
          <p:nvPr/>
        </p:nvSpPr>
        <p:spPr>
          <a:xfrm>
            <a:off x="10677525" y="8305800"/>
            <a:ext cx="4810125" cy="400050"/>
          </a:xfrm>
          <a:prstGeom prst="roundRect">
            <a:avLst>
              <a:gd name="adj" fmla="val 50000"/>
            </a:avLst>
          </a:prstGeom>
          <a:solidFill>
            <a:srgbClr val="5B71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標語-代理成交系統"/>
          <p:cNvSpPr txBox="1"/>
          <p:nvPr/>
        </p:nvSpPr>
        <p:spPr>
          <a:xfrm>
            <a:off x="10677525" y="8305800"/>
            <a:ext cx="4810125" cy="400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100"/>
              </a:lnSpc>
            </a:pPr>
            <a:r>
              <a:rPr sz="1425" b="1">
                <a:solidFill>
                  <a:srgbClr val="FFFFFF"/>
                </a:solidFill>
                <a:latin typeface="Noto Serif TC"/>
                <a:ea typeface="Noto Serif TC"/>
                <a:cs typeface="Noto Serif TC"/>
              </a:rPr>
              <a:t>把諮詢與成交交給團隊，你更能專注在交付與放大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